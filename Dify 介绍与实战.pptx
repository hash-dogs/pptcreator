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开场：Dify 是一个开源的 LLM 应用开发平台，融合了后端即服务（BaaS）与 LLMOps。先给一个具体锚点——右侧这张图是第四章要拆解的小红书运营工作流，本次分享会从产品理念一路走到可运行的工作流。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四个章节加一节总结。听众偏业务，重点放在第一章和第三章；听众偏技术，可以直接跳到第四章的三个实战。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过渡：先统一认知——Dify 是什么，以及它为什么这样设计。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强调三点：开源、融合 BaaS 与 LLMOps、面向生产级应用。名字来自 Define + Modify。60,000+ 是 GPTs 发布之前的数据，说明它不是跟随者。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左边是传统做法，右边是 Dify 的做法，逐行对照讲。重点是「图形化替代编程」与「自动化替代手动设置」，这一页是理解 Dify 定位的关键。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不要逐条念。按三组讲：怎么开发（开源 / 低代码 / 模块化）、能力覆盖什么（模型 / 组件 / API）、能否上生产（可观测性 / 后端即服务 / 云与自托管）。可声明式 YAML 是技术听众最关心的点。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过渡：接下来回答「为什么不用 LangChain 自己搭」。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这四条是选型时最常被问到的。讲完四条落到下面的总结句：Dify 的价值就是把它们收敛到一处。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三个价值各配一个真实例子：智能客服、多语言翻译、内容创作平台。例子比概念更有说服力，时间紧时只挑一个展开。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先看左边的 GitHub Star 曲线（来源 star-history.com，2024-10-31 达到 50,186），再讲右边四条。社区活跃度是自托管选型的重要参考。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过渡：进入能力篇——Dify 到底能做什么。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按听众身份选一列展开：创业团队看 MVP / POC，业务方看 RESTful API 解耦，IT 管理者看 LLM 网关与集中治理。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这是一张对照表，建议横着讲：一问一答（文本生成型）→ 多轮对话（对话型）→ 自主执行（Agent）→ 批量自动化（工作流）。代表案例帮助听众对号入座。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应用之外的能力往往决定项目能不能真正上线：知识库、标注、审核、数据分析、API 集成。右下角是总结句。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三个版本的能力差异主要在额度与成员数，模型支持是一致的。学生与教育工作者免费，注册另送 200 条额度——这条对内部推广很有用。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过渡：下面是三个由浅入深的实战，建议边讲边打开 Dify 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三个实战的难度递增：基础编排 → 知识库 RAG → 可视化工作流。时间有限时至少讲完第一个。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现场演示：登录 cloud.dify.ai → 创建空白应用并选择基础编排 → 写提示词（不会写就点「生成」）→ 调参 → 调试 → 发布。三种发布方式同时提供，其中「嵌入网站」是一段 iframe 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不要陷进公式。记住三条技巧即可：要稳定就全设 0；要多样性就调 temperature 并配合 top-p 0.95；输出垃圾内容就往下调。取值范围按文档原文标注。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关键是第 3 步的分段与索引，下一页展开。提醒两点：单文件不超过 15MB；问答类资料整理成 Q&amp;A 形式效果更好。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分段：对文档不熟选「自动分段与清洗」，要求高选「自定义」。索引：「高质量」用第三方 Embedding（消耗 token、更准），「经济」用离线向量引擎（不消耗 token、精度较低）。不会写 Prompt 就用 PromptPerfect。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这一页是全局图。先在画布上点一遍节点，说明数据如何从 Start 一路流到 End，再进入下一页看关键节点。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重点讲三处：三个 LLM 节点分别消费了 Start 的哪些变量；HTTP 节点调用外部生图服务；代码节点把接口返回处理成 Dify 可引用的变量，最后由模板节点拼装输出。DSL 可直接导入复用是最大卖点。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收尾：给出定位、价值、路径三句话，然后落到官方推荐的三步上手路径——快速开始、自托管、加入社区。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结束语，引用书的前言。商务咨询 business@dify.ai；技术交流可联系作者 hi@beansmile.com。留出提问时间。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25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· 产品介绍与实战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介绍与实战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1272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 LLM 应用开发平台 —— 从产品理念到聊天助手、企业知识库与工作流落地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50,186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49194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Stars（2024-10-31）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44348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49194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开发者的第一个 AI 应用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44348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0" y="49194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实战：聊天 / 知识库 / 工作流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03720" y="1737360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B33">
                <a:alpha val="13000"/>
              </a:srgbClr>
            </a:outerShdw>
          </a:effectLst>
        </p:spPr>
      </p:sp>
      <p:pic>
        <p:nvPicPr>
          <p:cNvPr id="12" name="Image 0" descr="assets/use/xhs_canv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31736" y="1865376"/>
            <a:ext cx="4453128" cy="30358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3720" y="51389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工作流画布 · 小红书运营一条龙（可视化编排）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8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依据《Dify 介绍与实战》整理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81328" y="162763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初识 Dify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1328" y="204825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Dify、设计初衷与九大核心理念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91672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328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81328" y="2514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为什么选 Dify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81328" y="293522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应用开发的四大挑战，以及 Dify 收敛这些挑战的方式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91672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198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81328" y="340156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能做什么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81328" y="382219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三类应用场景、四大应用类型与完整产品版本对比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11091672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068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81328" y="428853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Dify 的开发实战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81328" y="470916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聊天助手、企业知识库、小红书运营一条龙工作流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91672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937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81328" y="517550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落地要点与下一步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81328" y="55961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的定位总结，以及官方推荐的三步上手路径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783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E3B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31920" y="26700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初识 Dify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3192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Dify · 设计初衷 · 九大核心理念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初识 DIFY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Dify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介绍与实战》§1.1 什么是 Dify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是一个开源的大语言模型（LLM）应用开发平台，融合了后端即服务（BaaS）与 LLMOps 的理念，让开发者快速构建生产级的生成式 AI 应用。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平台内置构建 LLM 应用所需的技术栈：数百个模型的支持、直观的 Prompt 编排界面、高质量的 RAG 引擎、稳健的 Agent 框架与灵活的工作流，同时提供易用的界面与 API，让开发者不必重复造轮子。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93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= Define + Modify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名字本身即寓意：持续定义与改进你的 AI 应用。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60,000+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34640" y="5321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开发者在 GPTs 发布前，就已在 Dify 创建了自己的第一个应用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E3ECF9"/>
          </a:solidFill>
          <a:ln w="9525">
            <a:solidFill>
              <a:srgbClr val="E3E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28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E3ECF9"/>
          </a:solidFill>
          <a:ln w="9525">
            <a:solidFill>
              <a:srgbClr val="E3EC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后端即服务 BaaS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42062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E3ECF9"/>
          </a:solidFill>
          <a:ln w="9525">
            <a:solidFill>
              <a:srgbClr val="E3EC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LLMOps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246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692640" y="1828800"/>
            <a:ext cx="1947672" cy="3291840"/>
          </a:xfrm>
          <a:prstGeom prst="roundRect">
            <a:avLst>
              <a:gd name="adj" fmla="val 4695"/>
            </a:avLst>
          </a:prstGeom>
          <a:solidFill>
            <a:srgbClr val="FF6B2C"/>
          </a:solidFill>
          <a:ln w="9525">
            <a:solidFill>
              <a:srgbClr val="FF6B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1828800"/>
            <a:ext cx="19476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生产级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生成式 AI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应用开发平台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53492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三者合一：把自建 LLM 应用所需的技术栈一次性备齐。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初识 DIFY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设计初衷：把复杂流程留给平台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介绍与实战》§1.1.2 设计初衷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目标：成为一个让用户少写代码、少动手的智能化助手。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193852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的方式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70448" y="1938528"/>
            <a:ext cx="10058" cy="3931920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04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数据导入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每种数据格式都要单独对接，导入前先做格式转换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0" y="2249424"/>
            <a:ext cx="5696712" cy="896112"/>
          </a:xfrm>
          <a:prstGeom prst="roundRect">
            <a:avLst>
              <a:gd name="adj" fmla="val 8163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3408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数据导入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6151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支持多种数据格式无缝导入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数据清洗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478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需要编写脚本处理噪声、缺失与偏差，步骤繁琐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0" y="3218688"/>
            <a:ext cx="5696712" cy="896112"/>
          </a:xfrm>
          <a:prstGeom prst="roundRect">
            <a:avLst>
              <a:gd name="adj" fmla="val 8163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310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数据清洗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584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图形化界面完成数据的清洗与归类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242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建模与分析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51713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手动设置与编程，建模耗时、分析结果不直观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0" y="4187952"/>
            <a:ext cx="5696712" cy="896112"/>
          </a:xfrm>
          <a:prstGeom prst="roundRect">
            <a:avLst>
              <a:gd name="adj" fmla="val 8163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2793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建模与分析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455371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模块化流程，自动完成建模与可视化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结果输出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结果分散在多份文件里，需要多步操作才能成报告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43600" y="5157216"/>
            <a:ext cx="5696712" cy="896112"/>
          </a:xfrm>
          <a:prstGeom prst="roundRect">
            <a:avLst>
              <a:gd name="adj" fmla="val 8163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5248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结果输出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55229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提供多样化输出接口，自动生成报告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初识 DIFY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核心理念：九个关键词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介绍与实战》§1.2 Dify 的核心理念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以开源、可声明式的方式定义 AI 应用：用简洁的 YAML 描述 Prompt、上下文与插件，把精力留给创新与业务逻辑。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 · 开发方式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自由访问、修改与扩展平台功能，数据隐私与安全可控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56616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低代码 / 无代码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0050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可视化界面 + 模块化设计，无需深入了解技术细节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73168"/>
            <a:ext cx="356616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646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模块化设计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每个模块功能与接口清晰，按需选用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11396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 · 能力覆盖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1396" y="24505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全面模型支持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11396" y="279806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无缝集成 GPT、Mistral、Llama 3 等数百个模型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11396" y="3566160"/>
            <a:ext cx="356616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1396" y="3657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功能组件丰富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11396" y="40050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工作流、RAG 管道、Agent、模型管理，覆盖原型到生产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11396" y="4773168"/>
            <a:ext cx="356616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1396" y="48646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 API 或 WebApp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11396" y="52120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开箱即用，简化应用的部署与接入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74152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生产就绪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74152" y="24505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可观测性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74152" y="279806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LLMOps 监控日志与性能，据真实数据改进提示、数据集与模型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74152" y="3566160"/>
            <a:ext cx="356616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74152" y="3657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后端即服务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74152" y="40050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所有功能均提供 API，轻松集成进现有业务逻辑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74152" y="4773168"/>
            <a:ext cx="356616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4152" y="48646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云服务与自托管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74152" y="52120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既可使用云服务，也可部署在自己的环境中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783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E3B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31920" y="26700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为什么选 Dify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3192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应用开发的四大挑战 · Dify 为开发者带来的七大价值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为什么选 DIFY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应用开发，难在哪？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介绍与实战》§2.1 人工智能应用开发的挑战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数据获取与管理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特定领域里获得标注良好的数据集既昂贵又耗时；噪声、偏差与缺失数据会直接影响模型的可靠性与准确性。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42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灵活部署与集成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25880" y="29718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需要权衡可扩展性、响应时间与算力消耗，并在部署后建立数据反馈与模型迭代的闭环。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5204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数据隐私与安全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25880" y="3886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既要保护隐私又要高效利用数据，同时防范对抗样本等针对 AI 系统本身的攻击。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47141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71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434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持续更新与迭代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325880" y="4800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需要实时监测系统性能，并根据新数据与新需求持续调整，跟上快速演进的技术。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440680"/>
            <a:ext cx="12188952" cy="685800"/>
          </a:xfrm>
          <a:prstGeom prst="rect">
            <a:avLst/>
          </a:prstGeom>
          <a:solidFill>
            <a:srgbClr val="F1F5FB"/>
          </a:solidFill>
          <a:ln w="6350">
            <a:solidFill>
              <a:srgbClr val="F1F5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数据、部署、安全、迭代 —— 这四类挑战横跨 AI 应用的全生命周期，也正是 Dify 想要收敛的地方。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为什么选 DIFY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的价值：开发效率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介绍与实战》§2.2.1–2.2.3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简化开发流程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数据集管理、可视化提示编排与应用运营工具把复杂度收进平台；开发者只需定义提示、上下文与插件，实现低代码甚至无代码开发。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301752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例：智能客服机器人 —— 拖放组件定义处理步骤，结合 Prompt 编排，无需编写后端代码。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1396" y="164592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5716" y="1920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5716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85716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支持多种大语言模型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85716" y="3474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兼容 GPT 系列、Mistral、Llama 3 等多种厂商模型，并与众多模型供应商合作，让开发者按需选择最合适的模型。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85716" y="4663440"/>
            <a:ext cx="301752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5716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例：多语言翻译应用 —— 从 GPT 系列无缝切换到 Mistral，无需重新对接新模型的 API。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74152" y="164592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48472" y="1920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4847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模块化设计与功能组件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48472" y="3474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每个模块都有清晰的功能与接口；AI 工作流、RAG 管道、智能代理、模型管理等组件覆盖从原型到生产的全过程。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48472" y="4663440"/>
            <a:ext cx="301752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例：内容创作平台 —— 工作流抓取新闻，RAG 管道精简排序，文本生成模块产出每日摘要。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为什么选 DIFY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的价值：生产与生态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来源：§2.2.4–2.2.7；GitHub Star 数据：star-history.com（2024-10-31）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5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B33">
                <a:alpha val="13000"/>
              </a:srgbClr>
            </a:outerShdw>
          </a:effectLst>
        </p:spPr>
      </p:sp>
      <p:pic>
        <p:nvPicPr>
          <p:cNvPr id="7" name="Image 0" descr="assets/use/gh_st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773936"/>
            <a:ext cx="6144768" cy="3675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669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langgenius/dify 的 GitHub Star 增长曲线：2024 年 10 月 31 日达到 50,186 颗。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1645920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私有化部署与数据安全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0" y="1975104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部署在自有数据中心或专属云环境，满足合规要求并完全掌控数据。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2560320"/>
            <a:ext cx="4325112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2633472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活跃的开发者社区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0" y="2962656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分享经验、获取反馈、贡献代码，持续为平台注入创新动力。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0" y="3547872"/>
            <a:ext cx="4325112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3621024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 AI 应用开发门槛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3950208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的变化被隔离在业务层之外，业务开发者只需关注自己的领域。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15200" y="4535424"/>
            <a:ext cx="4325112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4608576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快速迭代与创新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4937760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Workflow 让 AI 工作流可视化，像搭积木一样构建复杂流程。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783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E3B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31920" y="26700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能做什么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3192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三类应用场景 · 四大应用类型 · 产品版本与定价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DIFY 能做什么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三类典型应用场景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介绍与实战》§3.1 应用场景概览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适用对象 · 创业团队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MVP / POC 快速验证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低代码特性大幅缩短从创意到产品的周期；无论成功还是失败，速度都是关键。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983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数十个团队用 Dify 构建 MVP 拿到投资，或通过 POC 赢得客户订单。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15384" y="1645920"/>
            <a:ext cx="10058" cy="4389120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1396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适用对象 · 现有业务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11396" y="19933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LLM 集成进现有系统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11396" y="2999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RESTful API 将 AI 能力接入现有业务，实现 Prompt 与业务代码的解耦。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11396" y="48463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7428" y="4983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在管理界面追踪数据、成本与用量，持续优化应用效果。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78140" y="1645920"/>
            <a:ext cx="10058" cy="4389120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适用对象 · 大型企业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74152" y="19933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企业级 LLM 网关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074152" y="2999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银行与大型互联网公司正将 Dify 部署为内部 LLM 网关，加速生成式 AI 的普及。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74152" y="48463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4983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实现集中治理与统一监管，让 AI 能力在公司内有序复用。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DIFY 能做什么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四大应用类型与代表案例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介绍与实战》§3.2.1–3.2.4 主要功能简介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434840"/>
                <a:gridCol w="1783080"/>
                <a:gridCol w="31821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形态与能力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典型场景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代表案例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文本生成型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表单 + 结果，支持流式返回，可接入数据集与插件增强能力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翻译、改写、摘要生成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Copy.ai、Jasper、DeepL Write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对话型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持续多轮对话，具备对话记忆、AI 开场白、上下文理解与下一步问题建议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智能客服、教育辅导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Ada Support、Duolingo Max、Replika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Agent 智能助手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配置搜索、计算、绘图等工具，自主完成任务分解、推理决策与结果输出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财务分析、报告撰写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AgentGPT、AutoGPT、Merlin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工作流应用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Chatflow 面向多步骤对话，Workflow 面向自动化与批处理，均可视化编排节点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复杂业务流程自动化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Rasa、Botpress / Make、n8n.io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7150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四类应用覆盖了从一问一答、到持续对话、再到自主执行与批量自动化的完整谱系。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DIFY 能做什么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应用之外：五项辅助能力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介绍与实战》§3.2.5 其他辅助功能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95681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支持文档导入与向量化，为应用提供专业领域知识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4203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852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可人工编辑高质量答案，提升回复准确度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43814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内容审核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支持敏感词过滤，确保对话安全合规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5254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52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33425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6451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提供详细的使用数据与效果分析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48656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23036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集成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5412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支持通过 API 调用集成到其他系统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0" y="1645920"/>
            <a:ext cx="4782312" cy="4114800"/>
          </a:xfrm>
          <a:prstGeom prst="roundRect">
            <a:avLst>
              <a:gd name="adj" fmla="val 2222"/>
            </a:avLst>
          </a:prstGeom>
          <a:solidFill>
            <a:srgbClr val="0B1B33"/>
          </a:solidFill>
          <a:ln w="9525">
            <a:solidFill>
              <a:srgbClr val="0B1B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0116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一句话总结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0" y="2377440"/>
            <a:ext cx="4233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在应用构建能力之外，知识库、标注、审核、数据分析与 API 集成，共同把原型推向可运营的产品。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132320" y="4572000"/>
            <a:ext cx="4233672" cy="10058"/>
          </a:xfrm>
          <a:prstGeom prst="rect">
            <a:avLst/>
          </a:prstGeom>
          <a:solidFill>
            <a:srgbClr val="1E3B65"/>
          </a:solidFill>
          <a:ln w="6350">
            <a:solidFill>
              <a:srgbClr val="1E3B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754880"/>
            <a:ext cx="4233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无论是简单的对话机器人，还是复杂的智能助手，平台的可扩展性都确保应用随业务持续演进。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DIFY 能做什么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产品版本与定价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来源：Dify 产品介绍 · Pricing and Plans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834640"/>
                <a:gridCol w="322783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Sandbox（试用）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Professional（个人开发者 / 小团队）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Team（中型团队）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定价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免费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$59 / 月（或 $590 / 年）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$159 / 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消息额度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 条（总计）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5,000 条 / 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10,000 条 / 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团队成员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 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应用数量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个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 个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 个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存储空间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50MB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5GB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20GB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 限额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5,000 / 天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日志历史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 天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257800"/>
            <a:ext cx="12188952" cy="868680"/>
          </a:xfrm>
          <a:prstGeom prst="rect">
            <a:avLst/>
          </a:prstGeom>
          <a:solidFill>
            <a:srgbClr val="F1F5FB"/>
          </a:solidFill>
          <a:ln w="6350">
            <a:solidFill>
              <a:srgbClr val="F1F5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注册即赠 200 条 OpenAI 消息额度 · 学生与教育工作者免费使用 · 三个版本的模型支持一致（OpenAI、Anthropic、Llama2、Azure OpenAI 等）· 订阅价格不含当地税费（VAT / Sales Tax）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783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E3B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31920" y="26700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Dify 的开发实战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3192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聊天助手 · 企业知识库 · 小红书运营一条龙工作流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开发实战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三个实战，从入门到工作流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介绍与实战》第 4 章 基于 Dify 的开发实战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01568" cy="4206240"/>
          </a:xfrm>
          <a:prstGeom prst="roundRect">
            <a:avLst>
              <a:gd name="adj" fmla="val 2688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聊天助手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基础编排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从零搭一个 MBTI 测试专家：创建应用 → 编写提示词 → 配置模型 → 调试 → 发布。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难度：入门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68496" y="34747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361688" y="1691640"/>
            <a:ext cx="3401568" cy="4206240"/>
          </a:xfrm>
          <a:prstGeom prst="roundRect">
            <a:avLst>
              <a:gd name="adj" fmla="val 2688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96596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36008" y="26700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企业知识库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36008" y="336499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36008" y="3749040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上传企业文档 → 分段与索引 → Prompt 优化 → 引用知识库 → 发布为内部信息助手。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6008" y="53492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难度：进阶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81544" y="34747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74736" y="1691640"/>
            <a:ext cx="3401568" cy="4206240"/>
          </a:xfrm>
          <a:prstGeom prst="roundRect">
            <a:avLst>
              <a:gd name="adj" fmla="val 2688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196596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449056" y="26700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小红书运营一条龙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49056" y="336499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Workflow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49056" y="3749040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Start 收集主题 → 3 个 LLM 节点生成标题/正文/前言 → HTTP 生图 → 代码提取 URL → 模板组装输出。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49056" y="53492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难度：高阶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实战一 · 聊天助手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五步搭出第一个聊天助手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介绍与实战》§4.1 聊天助手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创建应用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975104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 Dify Cloud → 进入工作室 → 创建空白应用，选择「基础编排」。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5420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编写提示词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2889504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在编排页输入提示词；点右上角「生成」可调用提示词生成器，让 AI 代写。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4564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配置模型与参数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803904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选择大语言模型，调整温度、Top P、Top K、存在与频率惩罚等参数。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3708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应用调试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4718304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在预览区检查输出效果，按需调整参数配置或更换智能模型。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 w="6350">
            <a:solidFill>
              <a:srgbClr val="DC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2852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应用发布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25880" y="5632704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三种方式同时提供：运行网页、嵌入网站（iframe）、访问 API。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0" y="1627632"/>
            <a:ext cx="487375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5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B33">
                <a:alpha val="13000"/>
              </a:srgbClr>
            </a:outerShdw>
          </a:effectLst>
        </p:spPr>
      </p:sp>
      <p:pic>
        <p:nvPicPr>
          <p:cNvPr id="27" name="Image 0" descr="assets/use/prompt_g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94576" y="1755648"/>
            <a:ext cx="4617720" cy="285292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766560" y="4892040"/>
            <a:ext cx="4873752" cy="1097280"/>
          </a:xfrm>
          <a:prstGeom prst="roundRect">
            <a:avLst>
              <a:gd name="adj" fmla="val 6667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22592" y="5029200"/>
            <a:ext cx="4361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提示词生成器：只需输入需求与说明，AI 即可产出可直接使用的提示词；基础编排不修改内置提示，最适合新手起步。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实战一 · 聊天助手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模型参数：一次说清怎么调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介绍与实战》§4.1 3. 大语言模型的选择与配置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60120"/>
                <a:gridCol w="76169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作用与调参建议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温度 Temperature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0–1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值越低越倾向选择高概率词，内容更稳但缺乏多样性；值越高随机性越强，过高会发散、产生错误内容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Top P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0–1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只从累计概率超过阈值 P 的候选词中随机采样；值越高候选越多，多样性与创意越高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Top K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0–1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从概率最高的 K 个词中随机采样；值越高候选越多，多样性与创意越高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存在惩罚 Presence penalty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0–1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对已出现在文本中的 token 施加惩罚，降低重复；不确定时建议设为 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频率惩罚 Frequency penalty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0–1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 每次出现时施加惩罚，降低重复；不确定时建议设为 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3EA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最大标记 Max tokens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最大生成长度，建议调大，并按不同模型的最大输出长度调整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257800"/>
            <a:ext cx="12188952" cy="868680"/>
          </a:xfrm>
          <a:prstGeom prst="rect">
            <a:avLst/>
          </a:prstGeom>
          <a:solidFill>
            <a:srgbClr val="F1F5FB"/>
          </a:solidFill>
          <a:ln w="6350">
            <a:solidFill>
              <a:srgbClr val="F1F5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3218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技巧 1：要唯一、准确的答案 —— top-k / top-p / temperature 设为 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70832" y="53218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技巧 2：要更多样性 —— temperature 按需取值（Dify 默认 0.2 / 0.5 / 0.8），top-p 可设 0.95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55864" y="53218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B3E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技巧 3：出现大量无意义内容 —— 适当降低 temperature 与 top-p / top-k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实战二 · 企业知识库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Dify 搭企业知识库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介绍与实战》§4.2 使用 Dify 快速搭建企业知识库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整理文档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把企业内部资料整理成文档；问答类内容整理成 Q&amp;A 形式效果更佳。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创建知识库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打开知识库页面，创建知识库并上传资料文档。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852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文本分段与清洗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文件上传后进入该步骤，页面右侧可预览文本分段情况。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编写 Prompt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PromptPerfect 等工具，把简单需求优化成结构化的提示词。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33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133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引用知识库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「上下文 → 添加 → 选中知识库 → 点击添加」即可引入。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773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773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调试与预览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在右侧直接测试，对比助手输出与企业文档原文，检查是否引用。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4132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5413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发布与应用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669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运行网页、嵌入网站、访问 API 三种方式同时提供。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1572768"/>
            <a:ext cx="514807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B33">
                <a:alpha val="13000"/>
              </a:srgbClr>
            </a:outerShdw>
          </a:effectLst>
        </p:spPr>
      </p:sp>
      <p:pic>
        <p:nvPicPr>
          <p:cNvPr id="28" name="Image 0" descr="assets/use/kb_cre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0256" y="1700784"/>
            <a:ext cx="4892040" cy="276148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492240" y="4754880"/>
            <a:ext cx="5148072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0" y="489204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已支持的文档格式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766560" y="516636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TXT、Markdown、PDF、HTML、XLSX、XLS、DOCX、CSV、EML、MSG、PPTX、PPT、XML、EPUB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766560" y="5751576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单文件不超过 15MB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实战二 · 企业知识库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分段、索引与 Prompt 优化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介绍与实战》§4.2 分段设置 / 索引方式 / Prompt 优化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739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分段设置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自动分段与清洗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文档没有统一的分段分割信息，或对文档不太熟悉时选择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328416"/>
            <a:ext cx="269748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1985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熟悉文档、对分段有较高要求且熟悉文本处理时选择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517136"/>
            <a:ext cx="269748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085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分段预览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91947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页面右侧可实时预览分段情况，确认切分是否合理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1572768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1F5FB"/>
          </a:solidFill>
          <a:ln w="9525">
            <a:solidFill>
              <a:srgbClr val="F1F5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7739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索引方式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51960" y="22311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高质量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51960" y="254203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由第三方 Embedding 模型（如 OpenAI text-embedding）完成，准确度更高，需消耗 token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3328416"/>
            <a:ext cx="269748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41985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51960" y="373075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离线向量引擎，准确度较低，但不消耗 token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51960" y="4517136"/>
            <a:ext cx="269748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46085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检索设置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51960" y="4919472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先按默认即可；进阶可了解混合检索与 Rerank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1572768"/>
            <a:ext cx="423367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B33">
                <a:alpha val="13000"/>
              </a:srgbClr>
            </a:outerShdw>
          </a:effectLst>
        </p:spPr>
      </p:sp>
      <p:pic>
        <p:nvPicPr>
          <p:cNvPr id="27" name="Image 0" descr="assets/use/kb_seg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34656" y="1700784"/>
            <a:ext cx="3977640" cy="230428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406640" y="4251960"/>
            <a:ext cx="4233672" cy="1801368"/>
          </a:xfrm>
          <a:prstGeom prst="roundRect">
            <a:avLst>
              <a:gd name="adj" fmla="val 5076"/>
            </a:avLst>
          </a:prstGeom>
          <a:solidFill>
            <a:srgbClr val="0B1B33"/>
          </a:solidFill>
          <a:ln w="9525">
            <a:solidFill>
              <a:srgbClr val="0B1B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35240" y="440740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优化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635240" y="4700016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把希望 AI 完成的事情用简单语言写出来，交给 PromptPerfect（promptperfect.jina.ai），即可得到优化后的结构化提示词。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635240" y="5522976"/>
            <a:ext cx="3776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示例：把「你是企业内部信息助手」优化为带示例问答的完整 Prompt。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实战三 · 小红书运营一条龙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工作流总览：8 个节点跑通内容生产线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介绍与实战》§4.3 小红书运营一条龙工作流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变量收集：主题、背景、语气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671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167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小红书标题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140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节点 · chatgpt-4o-latest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7340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小红书正文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80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节点 · 爆款写作 Prompt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009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00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封面前言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47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节点 · 封面文案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679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ImgRender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节点 · POST 生成封面图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获取封面图 URL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681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代码节点 · 处理返回值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0017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5001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组装结果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248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模板转换节点 · 拼装输出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56869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5686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815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输出标题、正文与封面图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1600200"/>
            <a:ext cx="7525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工作流画布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14800" y="1920240"/>
            <a:ext cx="752551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B33">
                <a:alpha val="13000"/>
              </a:srgbClr>
            </a:outerShdw>
          </a:effectLst>
        </p:spPr>
      </p:sp>
      <p:pic>
        <p:nvPicPr>
          <p:cNvPr id="32" name="Image 0" descr="assets/use/xhs_canv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42816" y="2048256"/>
            <a:ext cx="7269480" cy="37673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114800" y="5989320"/>
            <a:ext cx="7525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可视化节点编排：LLM 生成 + HTTP 生图 + 代码处理 + 模板组装，一次运行产出完整内容。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实战三 · 小红书运营一条龙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关键节点：从需求到标题、正文与封面图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来源：《Dify 介绍与实战》§4.3 节点拆解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Start —— 收集必要信息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在添加变量界面设置变量名与显示名称，收集用户的基本主题需求、背景信息与正文语气，交给下一步的大语言模型生成标题与正文。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694944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1576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 LLM 节点 —— 标题、正文与封面前言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标题要简短且吸引人；正文使用「小红书爆款写作专家」Prompt，并把第一步的变量组装进对话上下文；封面前言用于绘制到封面图模板上。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694944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313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节点 —— 生成封面图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 到 api.imgrender.net 按参数生成封面图，该服务每月提供免费调用额度；也可替换为 getimg.ai 等能力更强的 AI 绘图服务。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694944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9469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 + 模板转换 —— 提取 URL 并组装输出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294376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用代码节点把接口返回的数据处理成 Dify 可引用的变量，再由模板节点把标题、正文与封面图 URL 组装为最终结果。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0" y="1600200"/>
            <a:ext cx="38679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B33">
                <a:alpha val="13000"/>
              </a:srgbClr>
            </a:outerShdw>
          </a:effectLst>
        </p:spPr>
      </p:sp>
      <p:pic>
        <p:nvPicPr>
          <p:cNvPr id="18" name="Image 0" descr="assets/use/xhs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00416" y="1728216"/>
            <a:ext cx="3611880" cy="19385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0" y="388620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运行一次即可得到标题、正文与封面图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72400" y="4251960"/>
            <a:ext cx="3867912" cy="1892808"/>
          </a:xfrm>
          <a:prstGeom prst="roundRect">
            <a:avLst>
              <a:gd name="adj" fmla="val 4831"/>
            </a:avLst>
          </a:prstGeom>
          <a:solidFill>
            <a:srgbClr val="0B1B33"/>
          </a:solidFill>
          <a:ln w="9525">
            <a:solidFill>
              <a:srgbClr val="0B1B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4407408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01000" y="470916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 DSL 可在 Dify 中直接导入复用。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001000" y="5303520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示例未对封面图做过多美术设计，可按需替换绘图服务。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总结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落地要点与下一步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来源：全书要点 · Dify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定位：开源、可声明式的 LLM 应用开发平台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融合后端即服务（BaaS）与 LLMOps，用简洁的 YAML 定义 Prompt、上下文与插件；非技术成员也能参与应用定义与数据运营。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640080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价值：把四类挑战收敛到一处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34440" y="3520440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数据获取与管理、灵活部署与集成、数据隐私与安全、持续更新与迭代 —— 从开发到运营的完整链条都在平台内完成。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6400800" cy="10058"/>
          </a:xfrm>
          <a:prstGeom prst="rect">
            <a:avLst/>
          </a:prstGeom>
          <a:solidFill>
            <a:srgbClr val="D5E1F2"/>
          </a:solidFill>
          <a:ln w="6350">
            <a:solidFill>
              <a:srgbClr val="D5E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26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E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4526280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路径：复杂度随业务需要渐进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34440" y="4983480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170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基础编排起步（聊天助手）→ RAG 增强（企业知识库）→ 可视化工作流（内容生产流水线）。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600200"/>
            <a:ext cx="4325112" cy="4389120"/>
          </a:xfrm>
          <a:prstGeom prst="roundRect">
            <a:avLst>
              <a:gd name="adj" fmla="val 2114"/>
            </a:avLst>
          </a:prstGeom>
          <a:solidFill>
            <a:srgbClr val="0B1B33"/>
          </a:solidFill>
          <a:ln w="9525">
            <a:solidFill>
              <a:srgbClr val="0B1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8745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23317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快速开始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0" y="2642616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参照官方文档跑通构建流程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3118104"/>
            <a:ext cx="3776472" cy="10058"/>
          </a:xfrm>
          <a:prstGeom prst="rect">
            <a:avLst/>
          </a:prstGeom>
          <a:solidFill>
            <a:srgbClr val="1E3B65"/>
          </a:solidFill>
          <a:ln w="6350">
            <a:solidFill>
              <a:srgbClr val="1E3B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3227832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自托管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353872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探索本地服务器的部署方案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4014216"/>
            <a:ext cx="3776472" cy="10058"/>
          </a:xfrm>
          <a:prstGeom prst="rect">
            <a:avLst/>
          </a:prstGeom>
          <a:solidFill>
            <a:srgbClr val="1E3B65"/>
          </a:solidFill>
          <a:ln w="6350">
            <a:solidFill>
              <a:srgbClr val="1E3B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41239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加入社区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89520" y="443484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GitHub 上 Star 项目并关注 Roadmap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4910328"/>
            <a:ext cx="3776472" cy="10058"/>
          </a:xfrm>
          <a:prstGeom prst="rect">
            <a:avLst/>
          </a:prstGeom>
          <a:solidFill>
            <a:srgbClr val="1E3B65"/>
          </a:solidFill>
          <a:ln w="6350">
            <a:solidFill>
              <a:srgbClr val="1E3B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5020056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商务咨询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89520" y="5330952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business@dify.ai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DIFY · DO IT FOR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让我们一起探索</a:t>
            </a:r>
            <a:endParaRPr lang="en-US" sz="4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应用开发的无限可能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——《Dify 介绍与实战》前言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10058400" cy="10058"/>
          </a:xfrm>
          <a:prstGeom prst="rect">
            <a:avLst/>
          </a:prstGeom>
          <a:solidFill>
            <a:srgbClr val="1E3B65"/>
          </a:solidFill>
          <a:ln w="6350">
            <a:solidFill>
              <a:srgbClr val="1E3B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46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商务咨询：business@dify.ai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4846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2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作者联系：hi@beansmile.com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 believe Dify is made for you.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43032" y="6327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Mevion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 介绍与实战</dc:title>
  <dc:subject>Dify 产品介绍与实战指南</dc:subject>
  <dc:creator>ZCode</dc:creator>
  <cp:lastModifiedBy>ZCode</cp:lastModifiedBy>
  <cp:revision>1</cp:revision>
  <dcterms:created xsi:type="dcterms:W3CDTF">2026-09-14T01:53:06Z</dcterms:created>
  <dcterms:modified xsi:type="dcterms:W3CDTF">2026-09-14T01:53:06Z</dcterms:modified>
</cp:coreProperties>
</file>